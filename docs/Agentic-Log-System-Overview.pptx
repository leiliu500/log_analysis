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7724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0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" y="886968"/>
            <a:ext cx="164592" cy="164592"/>
          </a:xfrm>
          <a:prstGeom prst="rect">
            <a:avLst/>
          </a:prstGeom>
          <a:noFill/>
          <a:ln w="27940">
            <a:solidFill>
              <a:srgbClr val="0A0F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786384"/>
            <a:ext cx="5486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spc="200">
                <a:solidFill>
                  <a:srgbClr val="E6EEF5"/>
                </a:solidFill>
                <a:latin typeface="Consolas"/>
              </a:rPr>
              <a:t>AGENTIC 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673352"/>
            <a:ext cx="292608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25296" y="1554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35E0C4"/>
                </a:solidFill>
                <a:latin typeface="Consolas"/>
              </a:rPr>
              <a:t>SYSTEM OVERVIEW · GOVCLOUD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200" b="1">
                <a:solidFill>
                  <a:srgbClr val="E6EEF5"/>
                </a:solidFill>
                <a:latin typeface="Segoe UI"/>
              </a:rPr>
              <a:t>Agents that read the logs,</a:t>
            </a:r>
          </a:p>
          <a:p>
            <a:pPr algn="l">
              <a:lnSpc>
                <a:spcPct val="98000"/>
              </a:lnSpc>
            </a:pPr>
            <a:r>
              <a:rPr sz="5200" b="1">
                <a:solidFill>
                  <a:srgbClr val="E6EEF5"/>
                </a:solidFill>
                <a:latin typeface="Segoe UI"/>
              </a:rPr>
              <a:t>so people don't.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977639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A9BCCB"/>
                </a:solidFill>
                <a:latin typeface="Segoe UI"/>
              </a:rPr>
              <a:t>A production-oriented TypeScript platform that ingests logs from many sources, runs </a:t>
            </a:r>
            <a:r>
              <a:rPr sz="1500" b="1">
                <a:solidFill>
                  <a:srgbClr val="35E0C4"/>
                </a:solidFill>
                <a:latin typeface="Segoe UI"/>
              </a:rPr>
              <a:t>Amazon Bedrock</a:t>
            </a:r>
            <a:r>
              <a:rPr sz="1500" b="0">
                <a:solidFill>
                  <a:srgbClr val="A9BCCB"/>
                </a:solidFill>
                <a:latin typeface="Segoe UI"/>
              </a:rPr>
              <a:t> agents to parse, correlate, reason and learn — surfaced through a dashboard and a scoped AI assistant.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25780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spc="150">
                <a:solidFill>
                  <a:srgbClr val="6F8496"/>
                </a:solidFill>
                <a:latin typeface="Consolas"/>
              </a:rPr>
              <a:t>RUNTIME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E6EEF5"/>
                </a:solidFill>
                <a:latin typeface="Consolas"/>
              </a:rPr>
              <a:t>AWS GovCloud · us-gov-west-1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2736" y="525780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spc="150">
                <a:solidFill>
                  <a:srgbClr val="6F8496"/>
                </a:solidFill>
                <a:latin typeface="Consolas"/>
              </a:rPr>
              <a:t>REASONING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E6EEF5"/>
                </a:solidFill>
                <a:latin typeface="Consolas"/>
              </a:rPr>
              <a:t>Bedrock Agents +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525780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spc="150">
                <a:solidFill>
                  <a:srgbClr val="6F8496"/>
                </a:solidFill>
                <a:latin typeface="Consolas"/>
              </a:rPr>
              <a:t>STACK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E6EEF5"/>
                </a:solidFill>
                <a:latin typeface="Consolas"/>
              </a:rPr>
              <a:t>TypeScript monorepo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5712" y="525780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spc="150">
                <a:solidFill>
                  <a:srgbClr val="6F8496"/>
                </a:solidFill>
                <a:latin typeface="Consolas"/>
              </a:rPr>
              <a:t>STORAGE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E6EEF5"/>
                </a:solidFill>
                <a:latin typeface="Consolas"/>
              </a:rPr>
              <a:t>Postgres 16 + pgvector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AWS BEDROCK LOG-ANALYSIS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2823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1"/>
            <a:ext cx="292608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9435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35E0C4"/>
                </a:solidFill>
                <a:latin typeface="Consola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EF5"/>
                </a:solidFill>
                <a:latin typeface="Segoe UI"/>
              </a:rPr>
              <a:t>Telemetry outgrew the humans watching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A9BCCB"/>
                </a:solidFill>
                <a:latin typeface="Segoe UI"/>
              </a:rPr>
              <a:t>Logs arrive from CloudWatch, Splunk, Grafana and email faster than any team can read them. The one correlated failure that matters is buried in millions of near-identical lines across disconnected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3401568" cy="160020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246120"/>
            <a:ext cx="2999232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6EEF5"/>
                </a:solidFill>
                <a:latin typeface="Segoe UI"/>
              </a:rPr>
              <a:t>Volume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A9BCCB"/>
                </a:solidFill>
                <a:latin typeface="Segoe UI"/>
              </a:rPr>
              <a:t>A single error storm is 100k lines. Dashboards show counts, not causes.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063240"/>
            <a:ext cx="3401568" cy="160020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3246120"/>
            <a:ext cx="2999232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6EEF5"/>
                </a:solidFill>
                <a:latin typeface="Segoe UI"/>
              </a:rPr>
              <a:t>Silos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A9BCCB"/>
                </a:solidFill>
                <a:latin typeface="Segoe UI"/>
              </a:rPr>
              <a:t>The gateway, the authorizer and the backend each log alone — the story spans all three.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063240"/>
            <a:ext cx="3401568" cy="160020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3246120"/>
            <a:ext cx="2999232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E6EEF5"/>
                </a:solidFill>
                <a:latin typeface="Segoe UI"/>
              </a:rPr>
              <a:t>Context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A9BCCB"/>
                </a:solidFill>
                <a:latin typeface="Segoe UI"/>
              </a:rPr>
              <a:t>Answering “did this transaction succeed?” means stitching request → response by hand.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983480"/>
            <a:ext cx="10543032" cy="868680"/>
          </a:xfrm>
          <a:prstGeom prst="roundRect">
            <a:avLst>
              <a:gd name="adj" fmla="val 6000"/>
            </a:avLst>
          </a:prstGeom>
          <a:solidFill>
            <a:srgbClr val="0D141D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834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5E0C4"/>
                </a:solidFill>
                <a:latin typeface="Consolas"/>
              </a:rPr>
              <a:t>Agentic Log's bet:  </a:t>
            </a:r>
            <a:r>
              <a:rPr sz="1300" b="0">
                <a:solidFill>
                  <a:srgbClr val="A9BCCB"/>
                </a:solidFill>
                <a:latin typeface="Segoe UI"/>
              </a:rPr>
              <a:t>keep parsing, baselining and correlation deterministic and cheap — spend the LLM only on the handful of clusters that are actually interesting.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AWS BEDROCK LOG-ANALYSIS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2823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1"/>
            <a:ext cx="292608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9435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35E0C4"/>
                </a:solidFill>
                <a:latin typeface="Consolas"/>
              </a:rPr>
              <a:t>WHAT IT DOES ·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EF5"/>
                </a:solidFill>
                <a:latin typeface="Segoe UI"/>
              </a:rPr>
              <a:t>Six jobs, one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148840"/>
            <a:ext cx="29992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200" b="1">
                <a:solidFill>
                  <a:srgbClr val="35E0C4"/>
                </a:solidFill>
                <a:latin typeface="Consolas"/>
              </a:rPr>
              <a:t>01   </a:t>
            </a:r>
            <a:r>
              <a:rPr sz="1250" b="1">
                <a:solidFill>
                  <a:srgbClr val="E6EEF5"/>
                </a:solidFill>
                <a:latin typeface="Segoe UI"/>
              </a:rPr>
              <a:t>Anomaly detection &amp; alerting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000" b="0">
                <a:solidFill>
                  <a:srgbClr val="A9BCCB"/>
                </a:solidFill>
                <a:latin typeface="Segoe UI"/>
              </a:rPr>
              <a:t>Per-fingerprint EWMA baselines with z-score + new-burst gating; high/critical findings raise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965960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148840"/>
            <a:ext cx="29992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200" b="1">
                <a:solidFill>
                  <a:srgbClr val="35E0C4"/>
                </a:solidFill>
                <a:latin typeface="Consolas"/>
              </a:rPr>
              <a:t>02   </a:t>
            </a:r>
            <a:r>
              <a:rPr sz="1250" b="1">
                <a:solidFill>
                  <a:srgbClr val="E6EEF5"/>
                </a:solidFill>
                <a:latin typeface="Segoe UI"/>
              </a:rPr>
              <a:t>Scoped log assistant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000" b="0">
                <a:solidFill>
                  <a:srgbClr val="A9BCCB"/>
                </a:solidFill>
                <a:latin typeface="Segoe UI"/>
              </a:rPr>
              <a:t>A chatbot that answers only from findings &amp; logs semantically related to the question — never global aggregates.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965960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29992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200" b="1">
                <a:solidFill>
                  <a:srgbClr val="35E0C4"/>
                </a:solidFill>
                <a:latin typeface="Consolas"/>
              </a:rPr>
              <a:t>03   </a:t>
            </a:r>
            <a:r>
              <a:rPr sz="1250" b="1">
                <a:solidFill>
                  <a:srgbClr val="E6EEF5"/>
                </a:solidFill>
                <a:latin typeface="Segoe UI"/>
              </a:rPr>
              <a:t>Agentic investigation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000" b="0">
                <a:solidFill>
                  <a:srgbClr val="A9BCCB"/>
                </a:solidFill>
                <a:latin typeface="Segoe UI"/>
              </a:rPr>
              <a:t>Ingestion spawns per-cluster agents with a lifecycle — awaiting → active → closed — that advance as evidence arrives.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59352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4142232"/>
            <a:ext cx="29992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200" b="1">
                <a:solidFill>
                  <a:srgbClr val="35E0C4"/>
                </a:solidFill>
                <a:latin typeface="Consolas"/>
              </a:rPr>
              <a:t>04   </a:t>
            </a:r>
            <a:r>
              <a:rPr sz="1250" b="1">
                <a:solidFill>
                  <a:srgbClr val="E6EEF5"/>
                </a:solidFill>
                <a:latin typeface="Segoe UI"/>
              </a:rPr>
              <a:t>Cross-source correlation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000" b="0">
                <a:solidFill>
                  <a:srgbClr val="A9BCCB"/>
                </a:solidFill>
                <a:latin typeface="Segoe UI"/>
              </a:rPr>
              <a:t>Groups logs by shared strong entities within a window, preferring clusters that span multiple sources.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959352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4142232"/>
            <a:ext cx="29992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200" b="1">
                <a:solidFill>
                  <a:srgbClr val="35E0C4"/>
                </a:solidFill>
                <a:latin typeface="Consolas"/>
              </a:rPr>
              <a:t>05   </a:t>
            </a:r>
            <a:r>
              <a:rPr sz="1250" b="1">
                <a:solidFill>
                  <a:srgbClr val="E6EEF5"/>
                </a:solidFill>
                <a:latin typeface="Segoe UI"/>
              </a:rPr>
              <a:t>Log simulation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000" b="0">
                <a:solidFill>
                  <a:srgbClr val="A9BCCB"/>
                </a:solidFill>
                <a:latin typeface="Segoe UI"/>
              </a:rPr>
              <a:t>A simulator agent generates realistic logs from a request/response sample and writes them to any sink.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959352"/>
            <a:ext cx="3401568" cy="173736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4142232"/>
            <a:ext cx="29992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200" b="1">
                <a:solidFill>
                  <a:srgbClr val="35E0C4"/>
                </a:solidFill>
                <a:latin typeface="Consolas"/>
              </a:rPr>
              <a:t>06   </a:t>
            </a:r>
            <a:r>
              <a:rPr sz="1250" b="1">
                <a:solidFill>
                  <a:srgbClr val="E6EEF5"/>
                </a:solidFill>
                <a:latin typeface="Segoe UI"/>
              </a:rPr>
              <a:t>Invoke real apps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000" b="0">
                <a:solidFill>
                  <a:srgbClr val="A9BCCB"/>
                </a:solidFill>
                <a:latin typeface="Segoe UI"/>
              </a:rPr>
              <a:t>The chatbot can trigger a live downstream endpoint (apiflc, scp) and report the outcome.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AWS BEDROCK LOG-ANALYSIS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2823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92608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21207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35E0C4"/>
                </a:solidFill>
                <a:latin typeface="Consola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Deterministic core, LLM at the edges.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19656"/>
            <a:ext cx="8714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30">
                <a:solidFill>
                  <a:srgbClr val="35E0C4"/>
                </a:solidFill>
                <a:latin typeface="Consolas"/>
              </a:rPr>
              <a:t>SOURCES ·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79992" y="181965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spc="50">
                <a:solidFill>
                  <a:srgbClr val="6F8496"/>
                </a:solidFill>
                <a:latin typeface="Consolas"/>
              </a:rPr>
              <a:t>LogConnector.pull()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194560"/>
            <a:ext cx="1097280" cy="384048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94560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5E0C4"/>
                </a:solidFill>
                <a:latin typeface="Consolas"/>
              </a:rPr>
              <a:t>CloudWatch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95144" y="2194560"/>
            <a:ext cx="1545336" cy="384048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95144" y="2194560"/>
            <a:ext cx="15453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Splunk REST+HEC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86783" y="2194560"/>
            <a:ext cx="1276502" cy="384048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86783" y="2194560"/>
            <a:ext cx="127650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Grafana Loki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9590" y="2194560"/>
            <a:ext cx="1276502" cy="384048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9590" y="2194560"/>
            <a:ext cx="127650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Email SES→S3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633472"/>
            <a:ext cx="105430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35E0C4"/>
                </a:solidFill>
                <a:latin typeface="Consolas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907792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035808"/>
            <a:ext cx="8714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30">
                <a:solidFill>
                  <a:srgbClr val="35E0C4"/>
                </a:solidFill>
                <a:latin typeface="Consolas"/>
              </a:rPr>
              <a:t>ANALYSIS ENGINE · STATELESS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3035808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spc="50">
                <a:solidFill>
                  <a:srgbClr val="6F8496"/>
                </a:solidFill>
                <a:latin typeface="Consolas"/>
              </a:rPr>
              <a:t>packages/analysis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3410712"/>
            <a:ext cx="649224" cy="384048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410712"/>
            <a:ext cx="6492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parse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088" y="3410712"/>
            <a:ext cx="828446" cy="384048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47088" y="3410712"/>
            <a:ext cx="82844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extract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21838" y="3410712"/>
            <a:ext cx="1186891" cy="384048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21838" y="3410712"/>
            <a:ext cx="118689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fingerprint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55033" y="3410712"/>
            <a:ext cx="649224" cy="384048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55033" y="3410712"/>
            <a:ext cx="6492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learn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50561" y="3410712"/>
            <a:ext cx="1007668" cy="384048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50561" y="3410712"/>
            <a:ext cx="10076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correlate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04534" y="3410712"/>
            <a:ext cx="1634947" cy="384048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04534" y="3410712"/>
            <a:ext cx="163494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5E0C4"/>
                </a:solidFill>
                <a:latin typeface="Consolas"/>
              </a:rPr>
              <a:t>reason · Bedrock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849624"/>
            <a:ext cx="105430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35E0C4"/>
                </a:solidFill>
                <a:latin typeface="Consolas"/>
              </a:rPr>
              <a:t>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114800"/>
            <a:ext cx="5143500" cy="91440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242816"/>
            <a:ext cx="33147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30">
                <a:solidFill>
                  <a:srgbClr val="35E0C4"/>
                </a:solidFill>
                <a:latin typeface="Consolas"/>
              </a:rPr>
              <a:t>BEDROCK AGENTS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80460" y="424281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spc="50">
                <a:solidFill>
                  <a:srgbClr val="6F8496"/>
                </a:solidFill>
                <a:latin typeface="Consolas"/>
              </a:rPr>
              <a:t>Supervisor + 3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1560" y="4617720"/>
            <a:ext cx="1097280" cy="384048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617720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5E0C4"/>
                </a:solidFill>
                <a:latin typeface="Consolas"/>
              </a:rPr>
              <a:t>Supervisor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95144" y="4617720"/>
            <a:ext cx="918057" cy="384048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95144" y="4617720"/>
            <a:ext cx="91805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analysis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59505" y="4617720"/>
            <a:ext cx="1007668" cy="384048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59505" y="4617720"/>
            <a:ext cx="10076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simulator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13478" y="4617720"/>
            <a:ext cx="1097280" cy="384048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13478" y="4617720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scp/apiflc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22492" y="4114800"/>
            <a:ext cx="5143500" cy="91440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51092" y="4242816"/>
            <a:ext cx="33147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30">
                <a:solidFill>
                  <a:srgbClr val="35E0C4"/>
                </a:solidFill>
                <a:latin typeface="Consolas"/>
              </a:rPr>
              <a:t>STATE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79992" y="424281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spc="50">
                <a:solidFill>
                  <a:srgbClr val="6F8496"/>
                </a:solidFill>
                <a:latin typeface="Consolas"/>
              </a:rPr>
              <a:t>Postgres + pgvector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51092" y="4617720"/>
            <a:ext cx="918057" cy="384048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51092" y="4617720"/>
            <a:ext cx="91805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findings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15453" y="4617720"/>
            <a:ext cx="1007668" cy="384048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15453" y="4617720"/>
            <a:ext cx="10076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anomalies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69426" y="4617720"/>
            <a:ext cx="1007668" cy="384048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69426" y="4617720"/>
            <a:ext cx="10076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baselines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23399" y="4617720"/>
            <a:ext cx="559612" cy="384048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23399" y="4617720"/>
            <a:ext cx="55961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chat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5056632"/>
            <a:ext cx="105430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35E0C4"/>
                </a:solidFill>
                <a:latin typeface="Consolas"/>
              </a:rPr>
              <a:t>▼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" y="5321808"/>
            <a:ext cx="10543032" cy="91440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1560" y="5449824"/>
            <a:ext cx="8714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30">
                <a:solidFill>
                  <a:srgbClr val="35E0C4"/>
                </a:solidFill>
                <a:latin typeface="Consolas"/>
              </a:rPr>
              <a:t>DELIVERY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79992" y="544982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spc="50">
                <a:solidFill>
                  <a:srgbClr val="6F8496"/>
                </a:solidFill>
                <a:latin typeface="Consolas"/>
              </a:rPr>
              <a:t>ECS Fargate behind ALB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51560" y="5824728"/>
            <a:ext cx="4502505" cy="384048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1560" y="5824728"/>
            <a:ext cx="450250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Fastify API — /findings /chat /simulate /analyze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700369" y="5824728"/>
            <a:ext cx="2979115" cy="384048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00369" y="5824728"/>
            <a:ext cx="297911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Next.js dashboard + scoped chat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AWS BEDROCK LOG-ANALYSIS PLATFORM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07040" y="642823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92608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21207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35E0C4"/>
                </a:solidFill>
                <a:latin typeface="Consolas"/>
              </a:rPr>
              <a:t>DATA FLOW · THE CHEAP-FIRST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From raw line to reasoned finding.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572768" cy="86868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56816"/>
            <a:ext cx="13167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spc="120">
                <a:solidFill>
                  <a:srgbClr val="6F8496"/>
                </a:solidFill>
                <a:latin typeface="Consolas"/>
              </a:rPr>
              <a:t>RAW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E6EEF5"/>
                </a:solidFill>
                <a:latin typeface="Consolas"/>
              </a:rPr>
              <a:t>RawLogRecord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828800"/>
            <a:ext cx="2560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96896" y="1828800"/>
            <a:ext cx="1572768" cy="86868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4912" y="1956816"/>
            <a:ext cx="13167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spc="120">
                <a:solidFill>
                  <a:srgbClr val="6F8496"/>
                </a:solidFill>
                <a:latin typeface="Consolas"/>
              </a:rPr>
              <a:t>PARSE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E6EEF5"/>
                </a:solidFill>
                <a:latin typeface="Consolas"/>
              </a:rPr>
              <a:t>ParsedLog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1376" y="1828800"/>
            <a:ext cx="2560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1" y="1828800"/>
            <a:ext cx="1572768" cy="86868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7" y="1956816"/>
            <a:ext cx="13167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spc="120">
                <a:solidFill>
                  <a:srgbClr val="6F8496"/>
                </a:solidFill>
                <a:latin typeface="Consolas"/>
              </a:rPr>
              <a:t>LEARN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E6EEF5"/>
                </a:solidFill>
                <a:latin typeface="Consolas"/>
              </a:rPr>
              <a:t>AnomalyScore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1828800"/>
            <a:ext cx="2560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7" y="1828800"/>
            <a:ext cx="1572768" cy="86868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3" y="1956816"/>
            <a:ext cx="13167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spc="120">
                <a:solidFill>
                  <a:srgbClr val="6F8496"/>
                </a:solidFill>
                <a:latin typeface="Consolas"/>
              </a:rPr>
              <a:t>CORRELATE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E6EEF5"/>
                </a:solidFill>
                <a:latin typeface="Consolas"/>
              </a:rPr>
              <a:t>Cluster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1828800"/>
            <a:ext cx="2560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18703" y="1828800"/>
            <a:ext cx="1572768" cy="86868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15875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9" y="1956816"/>
            <a:ext cx="13167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spc="120">
                <a:solidFill>
                  <a:srgbClr val="35E0C4"/>
                </a:solidFill>
                <a:latin typeface="Consolas"/>
              </a:rPr>
              <a:t>REASON · LLM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E6EEF5"/>
                </a:solidFill>
                <a:latin typeface="Consolas"/>
              </a:rPr>
              <a:t>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1828800"/>
            <a:ext cx="2560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F8496"/>
                </a:solidFill>
                <a:latin typeface="Consola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39" y="1828800"/>
            <a:ext cx="1572768" cy="86868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0655" y="1956816"/>
            <a:ext cx="13167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spc="120">
                <a:solidFill>
                  <a:srgbClr val="6F8496"/>
                </a:solidFill>
                <a:latin typeface="Consolas"/>
              </a:rPr>
              <a:t>PERSIST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E6EEF5"/>
                </a:solidFill>
                <a:latin typeface="Consolas"/>
              </a:rPr>
              <a:t>Alert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154680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50" b="1">
                <a:solidFill>
                  <a:srgbClr val="E6EEF5"/>
                </a:solidFill>
                <a:latin typeface="Segoe UI"/>
              </a:rPr>
              <a:t>Fingerprint collapse. </a:t>
            </a:r>
            <a:r>
              <a:rPr sz="1150" b="0">
                <a:solidFill>
                  <a:srgbClr val="A9BCCB"/>
                </a:solidFill>
                <a:latin typeface="Segoe UI"/>
              </a:rPr>
              <a:t>A 100k-line error storm becomes one baseline update and one finding — not 100k model calls.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87368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50" b="1">
                <a:solidFill>
                  <a:srgbClr val="E6EEF5"/>
                </a:solidFill>
                <a:latin typeface="Segoe UI"/>
              </a:rPr>
              <a:t>Only interesting clusters reach Bedrock. </a:t>
            </a:r>
            <a:r>
              <a:rPr sz="1150" b="0">
                <a:solidFill>
                  <a:srgbClr val="A9BCCB"/>
                </a:solidFill>
                <a:latin typeface="Segoe UI"/>
              </a:rPr>
              <a:t>Anomalous or cross-source only, capped by maxReasoned — cost scales with events that matter.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20056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50" b="1">
                <a:solidFill>
                  <a:srgbClr val="E6EEF5"/>
                </a:solidFill>
                <a:latin typeface="Segoe UI"/>
              </a:rPr>
              <a:t>Everything is a Finding. </a:t>
            </a:r>
            <a:r>
              <a:rPr sz="1150" b="0">
                <a:solidFill>
                  <a:srgbClr val="A9BCCB"/>
                </a:solidFill>
                <a:latin typeface="Segoe UI"/>
              </a:rPr>
              <a:t>Anomalies, correlations, inferences and learned patterns persist as one shape with evidence + trace.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3154680"/>
            <a:ext cx="4507992" cy="283464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331012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spc="140">
                <a:solidFill>
                  <a:srgbClr val="6F8496"/>
                </a:solidFill>
                <a:latin typeface="Consolas"/>
              </a:rPr>
              <a:t>TWO ENTRY 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703320"/>
            <a:ext cx="4069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50" b="1">
                <a:solidFill>
                  <a:srgbClr val="E6EEF5"/>
                </a:solidFill>
                <a:latin typeface="Segoe UI"/>
              </a:rPr>
              <a:t>Scheduled</a:t>
            </a:r>
            <a:r>
              <a:rPr sz="1150" b="0">
                <a:solidFill>
                  <a:srgbClr val="A9BCCB"/>
                </a:solidFill>
                <a:latin typeface="Segoe UI"/>
              </a:rPr>
              <a:t> — EventBridge invokes the ingest poller Lambda every </a:t>
            </a:r>
            <a:r>
              <a:rPr sz="1150" b="1">
                <a:solidFill>
                  <a:srgbClr val="35E0C4"/>
                </a:solidFill>
                <a:latin typeface="Consolas"/>
              </a:rPr>
              <a:t>5 min</a:t>
            </a:r>
            <a:r>
              <a:rPr sz="1150" b="0">
                <a:solidFill>
                  <a:srgbClr val="A9BCCB"/>
                </a:solidFill>
                <a:latin typeface="Segoe UI"/>
              </a:rPr>
              <a:t>, pulling a window from every connector.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50" b="1">
                <a:solidFill>
                  <a:srgbClr val="E6EEF5"/>
                </a:solidFill>
                <a:latin typeface="Segoe UI"/>
              </a:rPr>
              <a:t>On-demand</a:t>
            </a:r>
            <a:r>
              <a:rPr sz="1150" b="0">
                <a:solidFill>
                  <a:srgbClr val="A9BCCB"/>
                </a:solidFill>
                <a:latin typeface="Segoe UI"/>
              </a:rPr>
              <a:t> — POST /analyze or the analyze_logs chat intent.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55321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5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5468112"/>
            <a:ext cx="8046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critical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65592" y="55321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9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1" y="5468112"/>
            <a:ext cx="5303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high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70264" y="55321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53144" y="5468112"/>
            <a:ext cx="6675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medium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12096" y="55321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7C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94976" y="5468112"/>
            <a:ext cx="4617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48188" y="55321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8A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31067" y="5468112"/>
            <a:ext cx="5303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A9BCCB"/>
                </a:solidFill>
                <a:latin typeface="Consolas"/>
              </a:rPr>
              <a:t>info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AWS BEDROCK LOG-ANALYSIS 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42823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92608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21207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35E0C4"/>
                </a:solidFill>
                <a:latin typeface="Consolas"/>
              </a:rPr>
              <a:t>COMPONENTS · MONOREPO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Ten packages, single source of truth.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401568" cy="1170432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4128" y="1965960"/>
            <a:ext cx="822960" cy="310896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965960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5E0C4"/>
                </a:solidFill>
                <a:latin typeface="Consolas"/>
              </a:rPr>
              <a:t>shared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50008"/>
            <a:ext cx="2999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A9BCCB"/>
                </a:solidFill>
                <a:latin typeface="Segoe UI"/>
              </a:rPr>
              <a:t>Zod schemas — the source of truth for every cross-package type; runtime validators at each boundary.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83080"/>
            <a:ext cx="3401568" cy="1170432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81728" y="1965960"/>
            <a:ext cx="457200" cy="310896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96596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5E0C4"/>
                </a:solidFill>
                <a:latin typeface="Consolas"/>
              </a:rPr>
              <a:t>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50008"/>
            <a:ext cx="2999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A9BCCB"/>
                </a:solidFill>
                <a:latin typeface="Segoe UI"/>
              </a:rPr>
              <a:t>Postgres schema, migrations, typed queries. Drizzle ORM + pgvector cosine index.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83080"/>
            <a:ext cx="3401568" cy="1170432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39328" y="1965960"/>
            <a:ext cx="1005840" cy="310896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965960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5E0C4"/>
                </a:solidFill>
                <a:latin typeface="Consolas"/>
              </a:rPr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350008"/>
            <a:ext cx="2999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A9BCCB"/>
                </a:solidFill>
                <a:latin typeface="Segoe UI"/>
              </a:rPr>
              <a:t>parse · extract · fingerprint · learn · correlate · reason + the Bedrock Converse wrapper.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136391"/>
            <a:ext cx="3401568" cy="1170432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4128" y="3319272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319272"/>
            <a:ext cx="1097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5E0C4"/>
                </a:solidFill>
                <a:latin typeface="Consolas"/>
              </a:rPr>
              <a:t>ingestion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703320"/>
            <a:ext cx="2999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A9BCCB"/>
                </a:solidFill>
                <a:latin typeface="Segoe UI"/>
              </a:rPr>
              <a:t>LogConnector per source: CloudWatch, Splunk, Grafana, Email. Plus the scheduled poller.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136391"/>
            <a:ext cx="3401568" cy="1170432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81728" y="3319272"/>
            <a:ext cx="822960" cy="310896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3319272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5E0C4"/>
                </a:solidFill>
                <a:latin typeface="Consolas"/>
              </a:rPr>
              <a:t>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3703320"/>
            <a:ext cx="2999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A9BCCB"/>
                </a:solidFill>
                <a:latin typeface="Segoe UI"/>
              </a:rPr>
              <a:t>Supervisor router, action-group Lambda, invoke-agent stream, ingest poller.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136391"/>
            <a:ext cx="3401568" cy="1170432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39328" y="3319272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8" y="3319272"/>
            <a:ext cx="1097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5E0C4"/>
                </a:solidFill>
                <a:latin typeface="Consolas"/>
              </a:rPr>
              <a:t>simulator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3703320"/>
            <a:ext cx="2999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A9BCCB"/>
                </a:solidFill>
                <a:latin typeface="Segoe UI"/>
              </a:rPr>
              <a:t>Generates logs from samples and writes them to every configured sink.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489704"/>
            <a:ext cx="3401568" cy="1170432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24128" y="4672584"/>
            <a:ext cx="548640" cy="310896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4672584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5E0C4"/>
                </a:solidFill>
                <a:latin typeface="Consolas"/>
              </a:rPr>
              <a:t>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5056632"/>
            <a:ext cx="2999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A9BCCB"/>
                </a:solidFill>
                <a:latin typeface="Segoe UI"/>
              </a:rPr>
              <a:t>Fastify. /chat orchestrates: route → dispatch by intent → grounded answer.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4489704"/>
            <a:ext cx="3401568" cy="1170432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81728" y="4672584"/>
            <a:ext cx="1005840" cy="310896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81728" y="4672584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5E0C4"/>
                </a:solidFill>
                <a:latin typeface="Consolas"/>
              </a:rPr>
              <a:t>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1728" y="5056632"/>
            <a:ext cx="2999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A9BCCB"/>
                </a:solidFill>
                <a:latin typeface="Segoe UI"/>
              </a:rPr>
              <a:t>The kernel: PlatformRegistry + PluginManifest. Routing, dispatch &amp; infra are derived from it.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4489704"/>
            <a:ext cx="3401568" cy="1170432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39328" y="4672584"/>
            <a:ext cx="822960" cy="310896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9328" y="4672584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5E0C4"/>
                </a:solidFill>
                <a:latin typeface="Consolas"/>
              </a:rPr>
              <a:t>apps/*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8" y="5056632"/>
            <a:ext cx="29992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A9BCCB"/>
                </a:solidFill>
                <a:latin typeface="Segoe UI"/>
              </a:rPr>
              <a:t>scp &amp; apiflc — real applications that register their log groups &amp; protocols.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5806440"/>
            <a:ext cx="4067251" cy="384048"/>
          </a:xfrm>
          <a:prstGeom prst="roundRect">
            <a:avLst>
              <a:gd name="adj" fmla="val 50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806440"/>
            <a:ext cx="406725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A9BCCB"/>
                </a:solidFill>
                <a:latin typeface="Consolas"/>
              </a:rPr>
              <a:t>web · Next.js App Router · React 19 · Tailwind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3091" y="5806440"/>
            <a:ext cx="3584447" cy="384048"/>
          </a:xfrm>
          <a:prstGeom prst="roundRect">
            <a:avLst>
              <a:gd name="adj" fmla="val 50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3091" y="5806440"/>
            <a:ext cx="358444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A9BCCB"/>
                </a:solidFill>
                <a:latin typeface="Consolas"/>
              </a:rPr>
              <a:t>prompts · externalized LLM prompts (.md)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40419" y="5806440"/>
            <a:ext cx="1733702" cy="384048"/>
          </a:xfrm>
          <a:prstGeom prst="roundRect">
            <a:avLst>
              <a:gd name="adj" fmla="val 50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40419" y="5806440"/>
            <a:ext cx="173370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A9BCCB"/>
                </a:solidFill>
                <a:latin typeface="Consolas"/>
              </a:rPr>
              <a:t>infra · Terraform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AWS BEDROCK LOG-ANALYSIS PLATFORM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42823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92608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35E0C4"/>
                </a:solidFill>
                <a:latin typeface="Consolas"/>
              </a:rPr>
              <a:t>BEDROCK AGENT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E6EEF5"/>
                </a:solidFill>
                <a:latin typeface="Segoe UI"/>
              </a:rPr>
              <a:t>A supervisor and its collaborators.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A9BCCB"/>
                </a:solidFill>
                <a:latin typeface="Segoe UI"/>
              </a:rPr>
              <a:t>One </a:t>
            </a:r>
            <a:r>
              <a:rPr sz="1250" b="1">
                <a:solidFill>
                  <a:srgbClr val="35E0C4"/>
                </a:solidFill>
                <a:latin typeface="Segoe UI"/>
              </a:rPr>
              <a:t>Supervisor</a:t>
            </a:r>
            <a:r>
              <a:rPr sz="1250" b="0">
                <a:solidFill>
                  <a:srgbClr val="A9BCCB"/>
                </a:solidFill>
                <a:latin typeface="Segoe UI"/>
              </a:rPr>
              <a:t> agent (SUPERVISOR_ROUTER) parses the request, extracts parameters, and delegates to a collaborator — each backed by the </a:t>
            </a:r>
            <a:r>
              <a:rPr sz="1250" b="1">
                <a:solidFill>
                  <a:srgbClr val="E6EEF5"/>
                </a:solidFill>
                <a:latin typeface="Segoe UI"/>
              </a:rPr>
              <a:t>same</a:t>
            </a:r>
            <a:r>
              <a:rPr sz="1250" b="0">
                <a:solidFill>
                  <a:srgbClr val="A9BCCB"/>
                </a:solidFill>
                <a:latin typeface="Segoe UI"/>
              </a:rPr>
              <a:t> action-group Lambda, dispatched by apiPath.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10543032" cy="658368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15875">
            <a:solidFill>
              <a:srgbClr val="0F9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5486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5E0C4"/>
                </a:solidFill>
                <a:latin typeface="Consolas"/>
              </a:rPr>
              <a:t>Supervisor · SUPERVISOR_ROUTER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754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A9BCCB"/>
                </a:solidFill>
                <a:latin typeface="Consolas"/>
              </a:rPr>
              <a:t>parse  ·  extract params  ·  route → collaborator /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63824"/>
            <a:ext cx="105430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35E0C4"/>
                </a:solidFill>
                <a:latin typeface="Consolas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56432"/>
            <a:ext cx="3401568" cy="86868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584448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E6EEF5"/>
                </a:solidFill>
                <a:latin typeface="Consolas"/>
              </a:rPr>
              <a:t>analysis-agent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913631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5E0C4"/>
                </a:solidFill>
                <a:latin typeface="Consolas"/>
              </a:rPr>
              <a:t>searchFindings  ·  analyzeLogs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456432"/>
            <a:ext cx="3401568" cy="86868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3584448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E6EEF5"/>
                </a:solidFill>
                <a:latin typeface="Consolas"/>
              </a:rPr>
              <a:t>simulator-agent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913631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5E0C4"/>
                </a:solidFill>
                <a:latin typeface="Consolas"/>
              </a:rPr>
              <a:t>simulateLogs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456432"/>
            <a:ext cx="3401568" cy="86868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3584448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E6EEF5"/>
                </a:solidFill>
                <a:latin typeface="Consolas"/>
              </a:rPr>
              <a:t>scp / apiflc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3913631"/>
            <a:ext cx="29992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5E0C4"/>
                </a:solidFill>
                <a:latin typeface="Consolas"/>
              </a:rPr>
              <a:t>invokeApplication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89120"/>
            <a:ext cx="105430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35E0C4"/>
                </a:solidFill>
                <a:latin typeface="Consolas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681728"/>
            <a:ext cx="10543032" cy="86868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79145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00">
                <a:solidFill>
                  <a:srgbClr val="35E0C4"/>
                </a:solidFill>
                <a:latin typeface="Consolas"/>
              </a:rPr>
              <a:t>ACTION-GROUP LAMBDA · one handler, dispatch by apiPath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5120640"/>
            <a:ext cx="1737360" cy="329184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120640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/findings/search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35224" y="5120640"/>
            <a:ext cx="1463040" cy="329184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35224" y="5120640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/logs/analyze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44568" y="5120640"/>
            <a:ext cx="1097280" cy="329184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44568" y="5120640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/simulate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88152" y="5120640"/>
            <a:ext cx="1280160" cy="329184"/>
          </a:xfrm>
          <a:prstGeom prst="roundRect">
            <a:avLst>
              <a:gd name="adj" fmla="val 6000"/>
            </a:avLst>
          </a:prstGeom>
          <a:solidFill>
            <a:srgbClr val="17222F"/>
          </a:solidFill>
          <a:ln w="9525">
            <a:solidFill>
              <a:srgbClr val="1A29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88152" y="5120640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/invoke-app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A9BCCB"/>
                </a:solidFill>
                <a:latin typeface="Segoe UI"/>
              </a:rPr>
              <a:t>A Bedrock </a:t>
            </a:r>
            <a:r>
              <a:rPr sz="1100" b="1">
                <a:solidFill>
                  <a:srgbClr val="E6EEF5"/>
                </a:solidFill>
                <a:latin typeface="Segoe UI"/>
              </a:rPr>
              <a:t>Flow</a:t>
            </a:r>
            <a:r>
              <a:rPr sz="1100" b="0">
                <a:solidFill>
                  <a:srgbClr val="A9BCCB"/>
                </a:solidFill>
                <a:latin typeface="Segoe UI"/>
              </a:rPr>
              <a:t> (Input → Supervisor → Output) wraps it — the API can call either the native agent or an identical local router, so it's testable without provisioning.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AWS BEDROCK LOG-ANALYSIS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2823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92608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21207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35E0C4"/>
                </a:solidFill>
                <a:latin typeface="Consolas"/>
              </a:rPr>
              <a:t>EXTENSIBILITY · THE PLUGIN KERNEL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6EEF5"/>
                </a:solidFill>
                <a:latin typeface="Segoe UI"/>
              </a:rPr>
              <a:t>A new application is one manifest.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120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250" b="0">
                <a:solidFill>
                  <a:srgbClr val="A9BCCB"/>
                </a:solidFill>
                <a:latin typeface="Segoe UI"/>
              </a:rPr>
              <a:t>Everything an application contributes — its agents, capabilities, log sources, downstream endpoints — is declared as a </a:t>
            </a:r>
            <a:r>
              <a:rPr sz="1250" b="1">
                <a:solidFill>
                  <a:srgbClr val="35E0C4"/>
                </a:solidFill>
                <a:latin typeface="Consolas"/>
              </a:rPr>
              <a:t>PluginManifest</a:t>
            </a:r>
            <a:r>
              <a:rPr sz="1250" b="0">
                <a:solidFill>
                  <a:srgbClr val="A9BCCB"/>
                </a:solidFill>
                <a:latin typeface="Segoe UI"/>
              </a:rPr>
              <a:t> and handed to the registry.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50" b="0">
                <a:solidFill>
                  <a:srgbClr val="A9BCCB"/>
                </a:solidFill>
                <a:latin typeface="Segoe UI"/>
              </a:rPr>
              <a:t>The Supervisor prompt is </a:t>
            </a:r>
            <a:r>
              <a:rPr sz="1150" b="1">
                <a:solidFill>
                  <a:srgbClr val="E6EEF5"/>
                </a:solidFill>
                <a:latin typeface="Segoe UI"/>
              </a:rPr>
              <a:t>assembled</a:t>
            </a:r>
            <a:r>
              <a:rPr sz="1150" b="0">
                <a:solidFill>
                  <a:srgbClr val="A9BCCB"/>
                </a:solidFill>
                <a:latin typeface="Segoe UI"/>
              </a:rPr>
              <a:t> from registered capabilities.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8503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50" b="0">
                <a:solidFill>
                  <a:srgbClr val="A9BCCB"/>
                </a:solidFill>
                <a:latin typeface="Segoe UI"/>
              </a:rPr>
              <a:t>Action-group dispatch resolves by </a:t>
            </a:r>
            <a:r>
              <a:rPr sz="1150" b="1">
                <a:solidFill>
                  <a:srgbClr val="E6EEF5"/>
                </a:solidFill>
                <a:latin typeface="Segoe UI"/>
              </a:rPr>
              <a:t>apiPath</a:t>
            </a:r>
            <a:r>
              <a:rPr sz="1150" b="0">
                <a:solidFill>
                  <a:srgbClr val="A9BCCB"/>
                </a:solidFill>
                <a:latin typeface="Segoe U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0682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50" b="0">
                <a:solidFill>
                  <a:srgbClr val="A9BCCB"/>
                </a:solidFill>
                <a:latin typeface="Segoe UI"/>
              </a:rPr>
              <a:t>The connector registry &amp; the Terraform agent list are all </a:t>
            </a:r>
            <a:r>
              <a:rPr sz="1150" b="1">
                <a:solidFill>
                  <a:srgbClr val="E6EEF5"/>
                </a:solidFill>
                <a:latin typeface="Segoe UI"/>
              </a:rPr>
              <a:t>derived</a:t>
            </a:r>
            <a:r>
              <a:rPr sz="1150" b="0">
                <a:solidFill>
                  <a:srgbClr val="A9BCCB"/>
                </a:solidFill>
                <a:latin typeface="Segoe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2861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50" b="0">
                <a:solidFill>
                  <a:srgbClr val="A9BCCB"/>
                </a:solidFill>
                <a:latin typeface="Segoe UI"/>
              </a:rPr>
              <a:t>No editing routing code in six packages — </a:t>
            </a:r>
            <a:r>
              <a:rPr sz="1150" b="1">
                <a:solidFill>
                  <a:srgbClr val="E6EEF5"/>
                </a:solidFill>
                <a:latin typeface="Segoe UI"/>
              </a:rPr>
              <a:t>register once</a:t>
            </a:r>
            <a:r>
              <a:rPr sz="1150" b="0">
                <a:solidFill>
                  <a:srgbClr val="A9BCCB"/>
                </a:solidFill>
                <a:latin typeface="Segoe U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102352" cy="3703320"/>
          </a:xfrm>
          <a:prstGeom prst="roundRect">
            <a:avLst>
              <a:gd name="adj" fmla="val 6000"/>
            </a:avLst>
          </a:prstGeom>
          <a:solidFill>
            <a:srgbClr val="0D141D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20">
                <a:solidFill>
                  <a:srgbClr val="6F8496"/>
                </a:solidFill>
                <a:latin typeface="Consolas"/>
              </a:rPr>
              <a:t>APIFLC — A REAL REGISTERED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87168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50" b="0">
                <a:solidFill>
                  <a:srgbClr val="A9BCCB"/>
                </a:solidFill>
                <a:latin typeface="Segoe UI"/>
              </a:rPr>
              <a:t>Analyzes the live </a:t>
            </a:r>
            <a:r>
              <a:rPr sz="1150" b="1">
                <a:solidFill>
                  <a:srgbClr val="E6EEF5"/>
                </a:solidFill>
                <a:latin typeface="Segoe UI"/>
              </a:rPr>
              <a:t>adt-fca-d1</a:t>
            </a:r>
            <a:r>
              <a:rPr sz="1150" b="0">
                <a:solidFill>
                  <a:srgbClr val="A9BCCB"/>
                </a:solidFill>
                <a:latin typeface="Segoe UI"/>
              </a:rPr>
              <a:t> API-Gateway stack.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236976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50" b="0">
                <a:solidFill>
                  <a:srgbClr val="A9BCCB"/>
                </a:solidFill>
                <a:latin typeface="Segoe UI"/>
              </a:rPr>
              <a:t>Joins </a:t>
            </a:r>
            <a:r>
              <a:rPr sz="1150" b="1">
                <a:solidFill>
                  <a:srgbClr val="E6EEF5"/>
                </a:solidFill>
                <a:latin typeface="Segoe UI"/>
              </a:rPr>
              <a:t>3 CloudWatch log groups</a:t>
            </a:r>
            <a:r>
              <a:rPr sz="1150" b="0">
                <a:solidFill>
                  <a:srgbClr val="A9BCCB"/>
                </a:solidFill>
                <a:latin typeface="Segoe UI"/>
              </a:rPr>
              <a:t> — handler, authorizer, background — plus execution logs.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986784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50" b="0">
                <a:solidFill>
                  <a:srgbClr val="A9BCCB"/>
                </a:solidFill>
                <a:latin typeface="Segoe UI"/>
              </a:rPr>
              <a:t>Reasons over a </a:t>
            </a:r>
            <a:r>
              <a:rPr sz="1150" b="1">
                <a:solidFill>
                  <a:srgbClr val="E6EEF5"/>
                </a:solidFill>
                <a:latin typeface="Segoe UI"/>
              </a:rPr>
              <a:t>REQUEST → RESPONSE</a:t>
            </a:r>
            <a:r>
              <a:rPr sz="1150" b="0">
                <a:solidFill>
                  <a:srgbClr val="A9BCCB"/>
                </a:solidFill>
                <a:latin typeface="Segoe UI"/>
              </a:rPr>
              <a:t> protocol keyed by correlationID.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736592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50" b="0">
                <a:solidFill>
                  <a:srgbClr val="A9BCCB"/>
                </a:solidFill>
                <a:latin typeface="Segoe UI"/>
              </a:rPr>
              <a:t>Assistant reports </a:t>
            </a:r>
            <a:r>
              <a:rPr sz="1150" b="1">
                <a:solidFill>
                  <a:srgbClr val="E6EEF5"/>
                </a:solidFill>
                <a:latin typeface="Segoe UI"/>
              </a:rPr>
              <a:t>HTTP status + success</a:t>
            </a:r>
            <a:r>
              <a:rPr sz="1150" b="0">
                <a:solidFill>
                  <a:srgbClr val="A9BCCB"/>
                </a:solidFill>
                <a:latin typeface="Segoe UI"/>
              </a:rPr>
              <a:t> end-to-end.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852160"/>
            <a:ext cx="4297680" cy="384048"/>
          </a:xfrm>
          <a:prstGeom prst="roundRect">
            <a:avLst>
              <a:gd name="adj" fmla="val 50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52160"/>
            <a:ext cx="4297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A9BCCB"/>
                </a:solidFill>
                <a:latin typeface="Consolas"/>
              </a:rPr>
              <a:t>Addressable 3 ways: intent · apiPath · ChatAdapter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5852160"/>
            <a:ext cx="2646273" cy="384048"/>
          </a:xfrm>
          <a:prstGeom prst="roundRect">
            <a:avLst>
              <a:gd name="adj" fmla="val 50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21808" y="5852160"/>
            <a:ext cx="264627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A9BCCB"/>
                </a:solidFill>
                <a:latin typeface="Consolas"/>
              </a:rPr>
              <a:t>Registered apps: scp · apiflc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AWS BEDROCK LOG-ANALYSIS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2823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21792"/>
            <a:ext cx="292608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0291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35E0C4"/>
                </a:solidFill>
                <a:latin typeface="Consolas"/>
              </a:rPr>
              <a:t>TECH STACK ·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E6EEF5"/>
                </a:solidFill>
                <a:latin typeface="Segoe UI"/>
              </a:rPr>
              <a:t>Typed end to end, Terraformed to GovCloud.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20">
                <a:solidFill>
                  <a:srgbClr val="6F8496"/>
                </a:solidFill>
                <a:latin typeface="Consolas"/>
              </a:rPr>
              <a:t>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00" b="1">
                <a:solidFill>
                  <a:srgbClr val="E6EEF5"/>
                </a:solidFill>
                <a:latin typeface="Segoe UI"/>
              </a:rPr>
              <a:t>Language </a:t>
            </a:r>
            <a:r>
              <a:rPr sz="1100" b="0">
                <a:solidFill>
                  <a:srgbClr val="A9BCCB"/>
                </a:solidFill>
                <a:latin typeface="Segoe UI"/>
              </a:rPr>
              <a:t>— TypeScript across the entire codebase.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15768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00" b="1">
                <a:solidFill>
                  <a:srgbClr val="E6EEF5"/>
                </a:solidFill>
                <a:latin typeface="Segoe UI"/>
              </a:rPr>
              <a:t>Web </a:t>
            </a:r>
            <a:r>
              <a:rPr sz="1100" b="0">
                <a:solidFill>
                  <a:srgbClr val="A9BCCB"/>
                </a:solidFill>
                <a:latin typeface="Segoe UI"/>
              </a:rPr>
              <a:t>— Next.js App Router, React 19, Tailwind; cookie-gated login + session timeout.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82696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00" b="1">
                <a:solidFill>
                  <a:srgbClr val="E6EEF5"/>
                </a:solidFill>
                <a:latin typeface="Segoe UI"/>
              </a:rPr>
              <a:t>API </a:t>
            </a:r>
            <a:r>
              <a:rPr sz="1100" b="0">
                <a:solidFill>
                  <a:srgbClr val="A9BCCB"/>
                </a:solidFill>
                <a:latin typeface="Segoe UI"/>
              </a:rPr>
              <a:t>— Fastify; Drizzle ORM; Zod validation.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9624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00" b="1">
                <a:solidFill>
                  <a:srgbClr val="E6EEF5"/>
                </a:solidFill>
                <a:latin typeface="Segoe UI"/>
              </a:rPr>
              <a:t>AI </a:t>
            </a:r>
            <a:r>
              <a:rPr sz="1100" b="0">
                <a:solidFill>
                  <a:srgbClr val="A9BCCB"/>
                </a:solidFill>
                <a:latin typeface="Segoe UI"/>
              </a:rPr>
              <a:t>— Bedrock Converse (model-configurable) + Titan v2 embeddings vector(1024).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16552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00" b="1">
                <a:solidFill>
                  <a:srgbClr val="E6EEF5"/>
                </a:solidFill>
                <a:latin typeface="Segoe UI"/>
              </a:rPr>
              <a:t>Data </a:t>
            </a:r>
            <a:r>
              <a:rPr sz="1100" b="0">
                <a:solidFill>
                  <a:srgbClr val="A9BCCB"/>
                </a:solidFill>
                <a:latin typeface="Segoe UI"/>
              </a:rPr>
              <a:t>— Postgres 16 + pgvector, ivfflat cosine retrieval.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20">
                <a:solidFill>
                  <a:srgbClr val="6F8496"/>
                </a:solidFill>
                <a:latin typeface="Consolas"/>
              </a:rPr>
              <a:t>INFRASTRUCTURE — TERRAFORM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48840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00" b="1">
                <a:solidFill>
                  <a:srgbClr val="E6EEF5"/>
                </a:solidFill>
                <a:latin typeface="Segoe UI"/>
              </a:rPr>
              <a:t>Network </a:t>
            </a:r>
            <a:r>
              <a:rPr sz="1100" b="0">
                <a:solidFill>
                  <a:srgbClr val="A9BCCB"/>
                </a:solidFill>
                <a:latin typeface="Segoe UI"/>
              </a:rPr>
              <a:t>— VPC, public/private subnets, NAT, security groups.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15768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00" b="1">
                <a:solidFill>
                  <a:srgbClr val="E6EEF5"/>
                </a:solidFill>
                <a:latin typeface="Segoe UI"/>
              </a:rPr>
              <a:t>Compute </a:t>
            </a:r>
            <a:r>
              <a:rPr sz="1100" b="0">
                <a:solidFill>
                  <a:srgbClr val="A9BCCB"/>
                </a:solidFill>
                <a:latin typeface="Segoe UI"/>
              </a:rPr>
              <a:t>— ECS Fargate (API + web) behind an ALB; VPC-attached Lambdas.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82696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00" b="1">
                <a:solidFill>
                  <a:srgbClr val="E6EEF5"/>
                </a:solidFill>
                <a:latin typeface="Segoe UI"/>
              </a:rPr>
              <a:t>Schedule </a:t>
            </a:r>
            <a:r>
              <a:rPr sz="1100" b="0">
                <a:solidFill>
                  <a:srgbClr val="A9BCCB"/>
                </a:solidFill>
                <a:latin typeface="Segoe UI"/>
              </a:rPr>
              <a:t>— EventBridge → ingest poller every 5 min.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49624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00" b="1">
                <a:solidFill>
                  <a:srgbClr val="E6EEF5"/>
                </a:solidFill>
                <a:latin typeface="Segoe UI"/>
              </a:rPr>
              <a:t>Pipeline </a:t>
            </a:r>
            <a:r>
              <a:rPr sz="1100" b="0">
                <a:solidFill>
                  <a:srgbClr val="A9BCCB"/>
                </a:solidFill>
                <a:latin typeface="Segoe UI"/>
              </a:rPr>
              <a:t>— CodeBuild + ECR image rebuild ships app 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416552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35E0C4"/>
                </a:solidFill>
                <a:latin typeface="Consolas"/>
              </a:rPr>
              <a:t>▸  </a:t>
            </a:r>
            <a:r>
              <a:rPr sz="1100" b="1">
                <a:solidFill>
                  <a:srgbClr val="E6EEF5"/>
                </a:solidFill>
                <a:latin typeface="Segoe UI"/>
              </a:rPr>
              <a:t>Region </a:t>
            </a:r>
            <a:r>
              <a:rPr sz="1100" b="0">
                <a:solidFill>
                  <a:srgbClr val="A9BCCB"/>
                </a:solidFill>
                <a:latin typeface="Segoe UI"/>
              </a:rPr>
              <a:t>— defaults to us-gov-west-1 (verify Bedrock availability).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57800"/>
            <a:ext cx="2079345" cy="96012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207934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6EEF5"/>
                </a:solidFill>
                <a:latin typeface="Consolas"/>
              </a:rPr>
              <a:t>4+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70448"/>
            <a:ext cx="207934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F8496"/>
                </a:solidFill>
                <a:latin typeface="Segoe UI"/>
              </a:rPr>
              <a:t>log sources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38881" y="5257800"/>
            <a:ext cx="2079345" cy="96012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38881" y="5394960"/>
            <a:ext cx="207934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6EEF5"/>
                </a:solidFill>
                <a:latin typeface="Consola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8881" y="5870448"/>
            <a:ext cx="207934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F8496"/>
                </a:solidFill>
                <a:latin typeface="Segoe UI"/>
              </a:rPr>
              <a:t>pipeline stages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54803" y="5257800"/>
            <a:ext cx="2079345" cy="96012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54803" y="5394960"/>
            <a:ext cx="207934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6EEF5"/>
                </a:solidFill>
                <a:latin typeface="Consola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4803" y="5870448"/>
            <a:ext cx="207934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F8496"/>
                </a:solidFill>
                <a:latin typeface="Segoe UI"/>
              </a:rPr>
              <a:t>Bedrock agents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0724" y="5257800"/>
            <a:ext cx="2079345" cy="96012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0724" y="5394960"/>
            <a:ext cx="207934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6EEF5"/>
                </a:solidFill>
                <a:latin typeface="Consolas"/>
              </a:rPr>
              <a:t>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0724" y="5870448"/>
            <a:ext cx="207934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F8496"/>
                </a:solidFill>
                <a:latin typeface="Segoe UI"/>
              </a:rPr>
              <a:t>ingest cadence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86646" y="5257800"/>
            <a:ext cx="2079345" cy="96012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6646" y="5394960"/>
            <a:ext cx="207934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6EEF5"/>
                </a:solidFill>
                <a:latin typeface="Consolas"/>
              </a:rPr>
              <a:t>1024d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6646" y="5870448"/>
            <a:ext cx="207934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F8496"/>
                </a:solidFill>
                <a:latin typeface="Segoe UI"/>
              </a:rPr>
              <a:t>embedding vectors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AWS BEDROCK LOG-ANALYSIS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2823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13231"/>
            <a:ext cx="292608" cy="20116"/>
          </a:xfrm>
          <a:prstGeom prst="rect">
            <a:avLst/>
          </a:prstGeom>
          <a:solidFill>
            <a:srgbClr val="35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94359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20">
                <a:solidFill>
                  <a:srgbClr val="35E0C4"/>
                </a:solidFill>
                <a:latin typeface="Consolas"/>
              </a:rPr>
              <a:t>IN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6EEF5"/>
                </a:solidFill>
                <a:latin typeface="Segoe UI"/>
              </a:rPr>
              <a:t>The signal, found for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A9BCCB"/>
                </a:solidFill>
                <a:latin typeface="Segoe UI"/>
              </a:rPr>
              <a:t>Agentic Log turns raw, siloed telemetry into reasoned, evidence-backed findings — cheaply at the deterministic core, intelligently at the LLM edges, delivered through a dashboard and an assistant that only answers from what it can prove.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5138928" cy="123444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3246120"/>
            <a:ext cx="47000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35E0C4"/>
                </a:solidFill>
                <a:latin typeface="Segoe UI"/>
              </a:rPr>
              <a:t>Source-agnostic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630168"/>
            <a:ext cx="47000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A9BCCB"/>
                </a:solidFill>
                <a:latin typeface="Segoe UI"/>
              </a:rPr>
              <a:t>A new source is a new connector; the pipeline never changes.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63240"/>
            <a:ext cx="5138928" cy="123444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3246120"/>
            <a:ext cx="47000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35E0C4"/>
                </a:solidFill>
                <a:latin typeface="Segoe UI"/>
              </a:rPr>
              <a:t>Scoped &amp; grounded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3630168"/>
            <a:ext cx="47000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A9BCCB"/>
                </a:solidFill>
                <a:latin typeface="Segoe UI"/>
              </a:rPr>
              <a:t>The assistant retrieves related findings by vector search — never global guesses.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98848"/>
            <a:ext cx="5138928" cy="123444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4681728"/>
            <a:ext cx="47000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35E0C4"/>
                </a:solidFill>
                <a:latin typeface="Segoe UI"/>
              </a:rPr>
              <a:t>Scales by interest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5065776"/>
            <a:ext cx="47000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A9BCCB"/>
                </a:solidFill>
                <a:latin typeface="Segoe UI"/>
              </a:rPr>
              <a:t>Fingerprint collapse + a cheap-first funnel keep Bedrock cost tied to interesting events.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498848"/>
            <a:ext cx="5138928" cy="1234440"/>
          </a:xfrm>
          <a:prstGeom prst="roundRect">
            <a:avLst>
              <a:gd name="adj" fmla="val 6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4681728"/>
            <a:ext cx="47000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35E0C4"/>
                </a:solidFill>
                <a:latin typeface="Segoe UI"/>
              </a:rPr>
              <a:t>Extensible by manifest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5065776"/>
            <a:ext cx="47000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A9BCCB"/>
                </a:solidFill>
                <a:latin typeface="Segoe UI"/>
              </a:rPr>
              <a:t>Register one plugin; routing, dispatch and infra follow automatically.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9436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943600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5E0C4"/>
                </a:solidFill>
                <a:latin typeface="Consolas"/>
              </a:rPr>
              <a:t>◢ AGENTIC 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78608" y="59436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78608" y="5943600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AWS Bedrock · GovCloud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57216" y="594360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111A24"/>
          </a:solidFill>
          <a:ln w="9525">
            <a:solidFill>
              <a:srgbClr val="24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57216" y="5943600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9BCCB"/>
                </a:solidFill>
                <a:latin typeface="Consolas"/>
              </a:rPr>
              <a:t>TypeScript monorepo · Terraform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>
                <a:solidFill>
                  <a:srgbClr val="35E0C4"/>
                </a:solidFill>
                <a:latin typeface="Consolas"/>
              </a:rPr>
              <a:t>◢ </a:t>
            </a:r>
            <a:r>
              <a:rPr sz="800" b="0" spc="120">
                <a:solidFill>
                  <a:srgbClr val="6F8496"/>
                </a:solidFill>
                <a:latin typeface="Consolas"/>
              </a:rPr>
              <a:t>AGENTIC LOG — AWS BEDROCK LOG-ANALYSIS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2823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6F8496"/>
                </a:solidFill>
                <a:latin typeface="Consola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